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Source Han Sans KR" panose="020B0600000101010101" charset="-127"/>
      <p:regular r:id="rId22"/>
    </p:embeddedFont>
    <p:embeddedFont>
      <p:font typeface="Source Han Sans KR Bold" panose="020B0600000101010101" charset="-127"/>
      <p:regular r:id="rId23"/>
    </p:embeddedFont>
    <p:embeddedFont>
      <p:font typeface="Source Han Sans KR Medium" panose="020B0600000101010101" charset="-127"/>
      <p:regular r:id="rId24"/>
    </p:embeddedFont>
    <p:embeddedFont>
      <p:font typeface="Barlow Condensed" panose="00000506000000000000" pitchFamily="2" charset="0"/>
      <p:regular r:id="rId25"/>
    </p:embeddedFont>
    <p:embeddedFont>
      <p:font typeface="Barlow Condensed Bold" panose="020B0600000101010101" charset="0"/>
      <p:regular r:id="rId26"/>
    </p:embeddedFont>
    <p:embeddedFont>
      <p:font typeface="Barlow Condensed Medium" panose="00000606000000000000" pitchFamily="2" charset="0"/>
      <p:regular r:id="rId27"/>
    </p:embeddedFont>
    <p:embeddedFont>
      <p:font typeface="Normung Bold" panose="020B0600000101010101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1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2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2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16733119" y="6841007"/>
            <a:ext cx="580321" cy="1015879"/>
          </a:xfrm>
          <a:custGeom>
            <a:avLst/>
            <a:gdLst/>
            <a:ahLst/>
            <a:cxnLst/>
            <a:rect l="l" t="t" r="r" b="b"/>
            <a:pathLst>
              <a:path w="580321" h="1015879">
                <a:moveTo>
                  <a:pt x="0" y="0"/>
                </a:moveTo>
                <a:lnTo>
                  <a:pt x="580321" y="0"/>
                </a:lnTo>
                <a:lnTo>
                  <a:pt x="580321" y="1015879"/>
                </a:lnTo>
                <a:lnTo>
                  <a:pt x="0" y="10158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8857456" y="3403957"/>
            <a:ext cx="604549" cy="699335"/>
          </a:xfrm>
          <a:custGeom>
            <a:avLst/>
            <a:gdLst/>
            <a:ahLst/>
            <a:cxnLst/>
            <a:rect l="l" t="t" r="r" b="b"/>
            <a:pathLst>
              <a:path w="604549" h="699335">
                <a:moveTo>
                  <a:pt x="0" y="0"/>
                </a:moveTo>
                <a:lnTo>
                  <a:pt x="604549" y="0"/>
                </a:lnTo>
                <a:lnTo>
                  <a:pt x="604549" y="699335"/>
                </a:lnTo>
                <a:lnTo>
                  <a:pt x="0" y="6993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6271390" y="5680797"/>
            <a:ext cx="5745219" cy="5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6"/>
              </a:lnSpc>
            </a:pPr>
            <a:r>
              <a:rPr lang="en-US" sz="3197" b="1" spc="-63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실시간 자세 인식 &amp; 피드백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45559" y="4261832"/>
            <a:ext cx="12596882" cy="1558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70"/>
              </a:lnSpc>
              <a:spcBef>
                <a:spcPct val="0"/>
              </a:spcBef>
            </a:pPr>
            <a:r>
              <a:rPr lang="en-US" sz="11928" b="1" u="none" strike="noStrik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AI 복싱 코치 시스템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21534" y="7828311"/>
            <a:ext cx="4244932" cy="313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</a:pPr>
            <a:r>
              <a:rPr lang="en-US" sz="1898" b="1" spc="-56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김웅빈, 박상현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066970" y="3683252"/>
            <a:ext cx="5978070" cy="5047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7467" lvl="1" indent="-408734" algn="l">
              <a:lnSpc>
                <a:spcPts val="5300"/>
              </a:lnSpc>
              <a:buFont typeface="Arial"/>
              <a:buChar char="•"/>
            </a:pPr>
            <a:r>
              <a:rPr lang="en-US" sz="3786" b="1" spc="-7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기획 배경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개발 배경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문제 정의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프로젝트 목표</a:t>
            </a:r>
          </a:p>
          <a:p>
            <a:pPr algn="l">
              <a:lnSpc>
                <a:spcPts val="3499"/>
              </a:lnSpc>
            </a:pPr>
            <a:endParaRPr lang="en-US" sz="2499" b="1" spc="-49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817467" lvl="1" indent="-408734" algn="l">
              <a:lnSpc>
                <a:spcPts val="5300"/>
              </a:lnSpc>
              <a:buFont typeface="Arial"/>
              <a:buChar char="•"/>
            </a:pPr>
            <a:r>
              <a:rPr lang="en-US" sz="3786" b="1" spc="-7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주요 기능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실시간 자세 분석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잽·훅 동작 인식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게임형 훈련 요소</a:t>
            </a:r>
          </a:p>
          <a:p>
            <a:pPr algn="l">
              <a:lnSpc>
                <a:spcPts val="5300"/>
              </a:lnSpc>
            </a:pPr>
            <a:endParaRPr lang="en-US" sz="2499" b="1" spc="-49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목차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15858" y="2877473"/>
            <a:ext cx="5646230" cy="587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endParaRPr dirty="0"/>
          </a:p>
          <a:p>
            <a:pPr marL="817467" lvl="1" indent="-408734" algn="l">
              <a:lnSpc>
                <a:spcPts val="5300"/>
              </a:lnSpc>
              <a:buFont typeface="Arial"/>
              <a:buChar char="•"/>
            </a:pPr>
            <a:r>
              <a:rPr lang="en-US" sz="3786" b="1" spc="-75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구현</a:t>
            </a:r>
            <a:r>
              <a:rPr lang="en-US" sz="3786" b="1" spc="-75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786" b="1" spc="-75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방향</a:t>
            </a:r>
            <a:endParaRPr lang="en-US" sz="3786" b="1" spc="-75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핵심</a:t>
            </a:r>
            <a:r>
              <a:rPr lang="en-US" sz="2499" b="1" spc="-49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기술</a:t>
            </a:r>
            <a:r>
              <a:rPr lang="en-US" sz="2499" b="1" spc="-49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소개</a:t>
            </a:r>
            <a:endParaRPr lang="en-US" sz="2499" b="1" spc="-49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RTMO-</a:t>
            </a: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S를</a:t>
            </a:r>
            <a:r>
              <a:rPr lang="en-US" sz="2499" b="1" spc="-49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선택한</a:t>
            </a:r>
            <a:r>
              <a:rPr lang="en-US" sz="2499" b="1" spc="-49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이유</a:t>
            </a:r>
            <a:endParaRPr lang="en-US" sz="2499" b="1" spc="-49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실시간</a:t>
            </a:r>
            <a:r>
              <a:rPr lang="en-US" sz="2499" b="1" spc="-49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처리</a:t>
            </a:r>
            <a:r>
              <a:rPr lang="en-US" sz="2499" b="1" spc="-49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흐름</a:t>
            </a:r>
            <a:endParaRPr lang="en-US" sz="2499" b="1" spc="-49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l">
              <a:lnSpc>
                <a:spcPts val="5300"/>
              </a:lnSpc>
            </a:pPr>
            <a:endParaRPr lang="en-US" sz="2499" b="1" spc="-49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817467" lvl="1" indent="-408734" algn="l">
              <a:lnSpc>
                <a:spcPts val="5300"/>
              </a:lnSpc>
              <a:buFont typeface="Arial"/>
              <a:buChar char="•"/>
            </a:pPr>
            <a:r>
              <a:rPr lang="en-US" sz="3786" b="1" spc="-75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서비스</a:t>
            </a:r>
            <a:r>
              <a:rPr lang="en-US" sz="3786" b="1" spc="-75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786" b="1" spc="-75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구성</a:t>
            </a:r>
            <a:r>
              <a:rPr lang="en-US" sz="3786" b="1" spc="-75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및 </a:t>
            </a:r>
            <a:r>
              <a:rPr lang="en-US" sz="3786" b="1" spc="-75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기대</a:t>
            </a:r>
            <a:r>
              <a:rPr lang="en-US" sz="3786" b="1" spc="-75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786" b="1" spc="-75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효과</a:t>
            </a:r>
            <a:endParaRPr lang="en-US" sz="3786" b="1" spc="-75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화면</a:t>
            </a:r>
            <a:r>
              <a:rPr lang="en-US" sz="2499" b="1" spc="-49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구성</a:t>
            </a:r>
            <a:endParaRPr lang="en-US" sz="2499" b="1" spc="-49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차별성</a:t>
            </a:r>
            <a:endParaRPr lang="en-US" sz="2499" b="1" spc="-49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기대</a:t>
            </a:r>
            <a:r>
              <a:rPr lang="en-US" sz="2499" b="1" spc="-49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효과</a:t>
            </a:r>
            <a:endParaRPr lang="en-US" sz="2499" b="1" spc="-49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향후</a:t>
            </a:r>
            <a:r>
              <a:rPr lang="en-US" sz="2499" b="1" spc="-49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499" b="1" spc="-49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계획</a:t>
            </a:r>
            <a:r>
              <a:rPr lang="en-US" sz="3786" b="1" spc="-75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172430" y="4287570"/>
            <a:ext cx="5745219" cy="135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55"/>
              </a:lnSpc>
            </a:pPr>
            <a:r>
              <a:rPr lang="en-US" sz="7896" b="1" spc="-15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기획 배경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5236221" y="2958465"/>
            <a:ext cx="7937347" cy="5652608"/>
          </a:xfrm>
          <a:custGeom>
            <a:avLst/>
            <a:gdLst/>
            <a:ahLst/>
            <a:cxnLst/>
            <a:rect l="l" t="t" r="r" b="b"/>
            <a:pathLst>
              <a:path w="7937347" h="5652608">
                <a:moveTo>
                  <a:pt x="0" y="0"/>
                </a:moveTo>
                <a:lnTo>
                  <a:pt x="7937347" y="0"/>
                </a:lnTo>
                <a:lnTo>
                  <a:pt x="7937347" y="5652608"/>
                </a:lnTo>
                <a:lnTo>
                  <a:pt x="0" y="5652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57" b="-2657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6172430" y="1895746"/>
            <a:ext cx="5745219" cy="6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5"/>
              </a:lnSpc>
            </a:pPr>
            <a:r>
              <a:rPr lang="en-US" sz="3861" b="1" spc="-7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개발 배경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AutoShape 11"/>
          <p:cNvSpPr/>
          <p:nvPr/>
        </p:nvSpPr>
        <p:spPr>
          <a:xfrm>
            <a:off x="7493599" y="4087693"/>
            <a:ext cx="4683914" cy="0"/>
          </a:xfrm>
          <a:prstGeom prst="line">
            <a:avLst/>
          </a:prstGeom>
          <a:ln w="3810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AutoShape 12"/>
          <p:cNvSpPr/>
          <p:nvPr/>
        </p:nvSpPr>
        <p:spPr>
          <a:xfrm>
            <a:off x="7579287" y="5626127"/>
            <a:ext cx="4683914" cy="0"/>
          </a:xfrm>
          <a:prstGeom prst="line">
            <a:avLst/>
          </a:prstGeom>
          <a:ln w="3810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AutoShape 13"/>
          <p:cNvSpPr/>
          <p:nvPr/>
        </p:nvSpPr>
        <p:spPr>
          <a:xfrm>
            <a:off x="7493599" y="7167710"/>
            <a:ext cx="4683914" cy="0"/>
          </a:xfrm>
          <a:prstGeom prst="line">
            <a:avLst/>
          </a:prstGeom>
          <a:ln w="3810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AutoShape 14"/>
          <p:cNvSpPr/>
          <p:nvPr/>
        </p:nvSpPr>
        <p:spPr>
          <a:xfrm>
            <a:off x="5328927" y="4087693"/>
            <a:ext cx="216467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AutoShape 15"/>
          <p:cNvSpPr/>
          <p:nvPr/>
        </p:nvSpPr>
        <p:spPr>
          <a:xfrm>
            <a:off x="5328927" y="5626127"/>
            <a:ext cx="216467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5328927" y="7167710"/>
            <a:ext cx="216467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5328927" y="4196345"/>
            <a:ext cx="2164671" cy="438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8"/>
              </a:lnSpc>
            </a:pPr>
            <a:r>
              <a:rPr lang="en-US" sz="2598" b="1" spc="-5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피드백 지연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문제 정의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19134" y="5197341"/>
            <a:ext cx="2364583" cy="84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7"/>
              </a:lnSpc>
            </a:pPr>
            <a:r>
              <a:rPr lang="en-US" sz="3297" b="1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AI 복싱</a:t>
            </a:r>
          </a:p>
          <a:p>
            <a:pPr marL="0" lvl="0" indent="0" algn="ctr">
              <a:lnSpc>
                <a:spcPts val="3297"/>
              </a:lnSpc>
            </a:pPr>
            <a:r>
              <a:rPr lang="en-US" sz="3297" b="1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코치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28927" y="5734780"/>
            <a:ext cx="2164671" cy="438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8"/>
              </a:lnSpc>
            </a:pPr>
            <a:r>
              <a:rPr lang="en-US" sz="2598" b="1" spc="-5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기준 불명확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28927" y="7276363"/>
            <a:ext cx="2164671" cy="438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8"/>
              </a:lnSpc>
            </a:pPr>
            <a:r>
              <a:rPr lang="en-US" sz="2598" b="1" spc="-5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동기 부족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93599" y="4198676"/>
            <a:ext cx="4855290" cy="86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8"/>
              </a:lnSpc>
            </a:pPr>
            <a:r>
              <a:rPr lang="en-US" sz="2498" spc="-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잘못된 자세가 반복되어 나쁜 습관이 형성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93599" y="5737111"/>
            <a:ext cx="4855290" cy="86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8"/>
              </a:lnSpc>
            </a:pPr>
            <a:r>
              <a:rPr lang="en-US" sz="2498" spc="-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올바른 자세의 기준이 명확하지 않아 혼란이 발생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3599" y="7278693"/>
            <a:ext cx="5267553" cy="86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8"/>
              </a:lnSpc>
            </a:pPr>
            <a:r>
              <a:rPr lang="en-US" sz="2498" spc="-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혼자 연습 시 성취감을 느끼기 어려워 지속적인 훈련이 힘듦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971717" y="3844757"/>
            <a:ext cx="3294823" cy="3822876"/>
            <a:chOff x="0" y="0"/>
            <a:chExt cx="867772" cy="10068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86194" y="3844757"/>
            <a:ext cx="3294823" cy="3822876"/>
            <a:chOff x="0" y="0"/>
            <a:chExt cx="867772" cy="10068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04867" y="3844757"/>
            <a:ext cx="3294823" cy="3822876"/>
            <a:chOff x="0" y="0"/>
            <a:chExt cx="867772" cy="1006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23540" y="3844757"/>
            <a:ext cx="3294823" cy="3822876"/>
            <a:chOff x="0" y="0"/>
            <a:chExt cx="867772" cy="10068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2190913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AutoShape 24"/>
          <p:cNvSpPr/>
          <p:nvPr/>
        </p:nvSpPr>
        <p:spPr>
          <a:xfrm>
            <a:off x="5805391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>
            <a:off x="9424063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13042736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Freeform 27"/>
          <p:cNvSpPr/>
          <p:nvPr/>
        </p:nvSpPr>
        <p:spPr>
          <a:xfrm>
            <a:off x="3160540" y="3940261"/>
            <a:ext cx="993155" cy="1716034"/>
          </a:xfrm>
          <a:custGeom>
            <a:avLst/>
            <a:gdLst/>
            <a:ahLst/>
            <a:cxnLst/>
            <a:rect l="l" t="t" r="r" b="b"/>
            <a:pathLst>
              <a:path w="993155" h="1716034">
                <a:moveTo>
                  <a:pt x="0" y="0"/>
                </a:moveTo>
                <a:lnTo>
                  <a:pt x="993155" y="0"/>
                </a:lnTo>
                <a:lnTo>
                  <a:pt x="993155" y="1716034"/>
                </a:lnTo>
                <a:lnTo>
                  <a:pt x="0" y="1716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>
            <a:off x="6705952" y="4306981"/>
            <a:ext cx="1056596" cy="799276"/>
          </a:xfrm>
          <a:custGeom>
            <a:avLst/>
            <a:gdLst/>
            <a:ahLst/>
            <a:cxnLst/>
            <a:rect l="l" t="t" r="r" b="b"/>
            <a:pathLst>
              <a:path w="1056596" h="799276">
                <a:moveTo>
                  <a:pt x="0" y="0"/>
                </a:moveTo>
                <a:lnTo>
                  <a:pt x="1056596" y="0"/>
                </a:lnTo>
                <a:lnTo>
                  <a:pt x="1056596" y="799276"/>
                </a:lnTo>
                <a:lnTo>
                  <a:pt x="0" y="799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Freeform 29"/>
          <p:cNvSpPr/>
          <p:nvPr/>
        </p:nvSpPr>
        <p:spPr>
          <a:xfrm>
            <a:off x="10432912" y="4165108"/>
            <a:ext cx="814589" cy="1070846"/>
          </a:xfrm>
          <a:custGeom>
            <a:avLst/>
            <a:gdLst/>
            <a:ahLst/>
            <a:cxnLst/>
            <a:rect l="l" t="t" r="r" b="b"/>
            <a:pathLst>
              <a:path w="814589" h="1070846">
                <a:moveTo>
                  <a:pt x="0" y="0"/>
                </a:moveTo>
                <a:lnTo>
                  <a:pt x="814589" y="0"/>
                </a:lnTo>
                <a:lnTo>
                  <a:pt x="814589" y="1070846"/>
                </a:lnTo>
                <a:lnTo>
                  <a:pt x="0" y="10708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Freeform 30"/>
          <p:cNvSpPr/>
          <p:nvPr/>
        </p:nvSpPr>
        <p:spPr>
          <a:xfrm>
            <a:off x="13877451" y="4111716"/>
            <a:ext cx="1169053" cy="1151205"/>
          </a:xfrm>
          <a:custGeom>
            <a:avLst/>
            <a:gdLst/>
            <a:ahLst/>
            <a:cxnLst/>
            <a:rect l="l" t="t" r="r" b="b"/>
            <a:pathLst>
              <a:path w="1169053" h="1151205">
                <a:moveTo>
                  <a:pt x="0" y="0"/>
                </a:moveTo>
                <a:lnTo>
                  <a:pt x="1169053" y="0"/>
                </a:lnTo>
                <a:lnTo>
                  <a:pt x="1169053" y="1151204"/>
                </a:lnTo>
                <a:lnTo>
                  <a:pt x="0" y="11512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GOALS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프로젝트 목표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98441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실시간 자세 인식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12919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펀치 동작 인식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31592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점수 및 피드백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950264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게임형 훈련 확장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98441" y="6141515"/>
            <a:ext cx="3041374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웹캠을 통해 사용자의</a:t>
            </a:r>
          </a:p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자세를 실시간으로</a:t>
            </a:r>
          </a:p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분석하고 평가합니다.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712919" y="6141515"/>
            <a:ext cx="3041374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잽, 크로스 등 다양한</a:t>
            </a:r>
          </a:p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펀치 동작을 자동으로</a:t>
            </a:r>
          </a:p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감지하고 분류합니다.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31592" y="6141515"/>
            <a:ext cx="3041374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동작별 점수와 등급을</a:t>
            </a:r>
          </a:p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즉시 제공하여 개선점을</a:t>
            </a:r>
          </a:p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명확히 안내합니다.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50264" y="6141515"/>
            <a:ext cx="3041374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AI 공격 예고, 방어 훈련,</a:t>
            </a:r>
          </a:p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콤보 시스템으로 재미있는</a:t>
            </a:r>
          </a:p>
          <a:p>
            <a:pPr marL="0" lvl="0" indent="0" algn="ctr">
              <a:lnSpc>
                <a:spcPts val="2240"/>
              </a:lnSpc>
            </a:pPr>
            <a:r>
              <a:rPr lang="en-US" sz="1600" b="1" spc="-32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훈련 경험을 제공합니다.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172430" y="4287570"/>
            <a:ext cx="5745219" cy="135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55"/>
              </a:lnSpc>
            </a:pPr>
            <a:r>
              <a:rPr lang="en-US" sz="7896" b="1" spc="-15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주요 기능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9045040" y="3986829"/>
            <a:ext cx="6783476" cy="442671"/>
            <a:chOff x="0" y="0"/>
            <a:chExt cx="1786595" cy="1165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6595" cy="116588"/>
            </a:xfrm>
            <a:custGeom>
              <a:avLst/>
              <a:gdLst/>
              <a:ahLst/>
              <a:cxnLst/>
              <a:rect l="l" t="t" r="r" b="b"/>
              <a:pathLst>
                <a:path w="1786595" h="116588">
                  <a:moveTo>
                    <a:pt x="0" y="0"/>
                  </a:moveTo>
                  <a:lnTo>
                    <a:pt x="1786595" y="0"/>
                  </a:lnTo>
                  <a:lnTo>
                    <a:pt x="1786595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86595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2248976" y="3986829"/>
            <a:ext cx="6216066" cy="3860820"/>
          </a:xfrm>
          <a:custGeom>
            <a:avLst/>
            <a:gdLst/>
            <a:ahLst/>
            <a:cxnLst/>
            <a:rect l="l" t="t" r="r" b="b"/>
            <a:pathLst>
              <a:path w="6216066" h="3860820">
                <a:moveTo>
                  <a:pt x="0" y="0"/>
                </a:moveTo>
                <a:lnTo>
                  <a:pt x="6216065" y="0"/>
                </a:lnTo>
                <a:lnTo>
                  <a:pt x="6216065" y="3860819"/>
                </a:lnTo>
                <a:lnTo>
                  <a:pt x="0" y="38608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238" b="-423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주요 기능 1 - 자세 분석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51516" y="4012285"/>
            <a:ext cx="2569271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실시간 자세 분석 시스템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45040" y="4591424"/>
            <a:ext cx="7432588" cy="390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525" lvl="1" indent="-215763" algn="l">
              <a:lnSpc>
                <a:spcPts val="2798"/>
              </a:lnSpc>
              <a:buFont typeface="Arial"/>
              <a:buChar char="•"/>
            </a:pPr>
            <a:r>
              <a:rPr lang="en-US" sz="1998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가드 위치 확인</a:t>
            </a:r>
          </a:p>
          <a:p>
            <a:pPr marL="776693" lvl="2" indent="-258898" algn="l">
              <a:lnSpc>
                <a:spcPts val="2518"/>
              </a:lnSpc>
              <a:buFont typeface="Arial"/>
              <a:buChar char="⚬"/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양손 높이와 위치를 분석해 방어 자세 점검</a:t>
            </a:r>
          </a:p>
          <a:p>
            <a:pPr algn="l">
              <a:lnSpc>
                <a:spcPts val="2518"/>
              </a:lnSpc>
            </a:pPr>
            <a:endParaRPr lang="en-US" sz="1798" spc="-71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525" lvl="1" indent="-215763" algn="l">
              <a:lnSpc>
                <a:spcPts val="2798"/>
              </a:lnSpc>
              <a:buFont typeface="Arial"/>
              <a:buChar char="•"/>
            </a:pPr>
            <a:r>
              <a:rPr lang="en-US" sz="1998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스탠스 균형 측정</a:t>
            </a:r>
          </a:p>
          <a:p>
            <a:pPr marL="776693" lvl="2" indent="-258898" algn="l">
              <a:lnSpc>
                <a:spcPts val="2518"/>
              </a:lnSpc>
              <a:buFont typeface="Arial"/>
              <a:buChar char="⚬"/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발 위치와 중심을 기반으로 자세 안정성 평가</a:t>
            </a:r>
          </a:p>
          <a:p>
            <a:pPr algn="l">
              <a:lnSpc>
                <a:spcPts val="2518"/>
              </a:lnSpc>
            </a:pPr>
            <a:endParaRPr lang="en-US" sz="1798" spc="-71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525" lvl="1" indent="-215763" algn="l">
              <a:lnSpc>
                <a:spcPts val="2798"/>
              </a:lnSpc>
              <a:buFont typeface="Arial"/>
              <a:buChar char="•"/>
            </a:pPr>
            <a:r>
              <a:rPr lang="en-US" sz="1998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상체 정렬 평가</a:t>
            </a:r>
          </a:p>
          <a:p>
            <a:pPr marL="776693" lvl="2" indent="-258898" algn="l">
              <a:lnSpc>
                <a:spcPts val="2518"/>
              </a:lnSpc>
              <a:buFont typeface="Arial"/>
              <a:buChar char="⚬"/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어깨·팔꿈치·손목 정렬 상태 확인</a:t>
            </a:r>
          </a:p>
          <a:p>
            <a:pPr algn="l">
              <a:lnSpc>
                <a:spcPts val="2518"/>
              </a:lnSpc>
            </a:pPr>
            <a:endParaRPr lang="en-US" sz="1798" spc="-71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525" lvl="1" indent="-215763" algn="l">
              <a:lnSpc>
                <a:spcPts val="2798"/>
              </a:lnSpc>
              <a:buFont typeface="Arial"/>
              <a:buChar char="•"/>
            </a:pPr>
            <a:r>
              <a:rPr lang="en-US" sz="1998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점수 및 등급 표시</a:t>
            </a:r>
          </a:p>
          <a:p>
            <a:pPr marL="776693" lvl="2" indent="-258898" algn="l">
              <a:lnSpc>
                <a:spcPts val="2518"/>
              </a:lnSpc>
              <a:buFont typeface="Arial"/>
              <a:buChar char="⚬"/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항목별 점수와 종합 등급을 실시간 제공</a:t>
            </a:r>
          </a:p>
          <a:p>
            <a:pPr marL="0" lvl="0" indent="0" algn="l">
              <a:lnSpc>
                <a:spcPts val="2518"/>
              </a:lnSpc>
            </a:pPr>
            <a:endParaRPr lang="en-US" sz="1798" spc="-71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9045040" y="3986829"/>
            <a:ext cx="6783476" cy="442671"/>
            <a:chOff x="0" y="0"/>
            <a:chExt cx="1786595" cy="1165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6595" cy="116588"/>
            </a:xfrm>
            <a:custGeom>
              <a:avLst/>
              <a:gdLst/>
              <a:ahLst/>
              <a:cxnLst/>
              <a:rect l="l" t="t" r="r" b="b"/>
              <a:pathLst>
                <a:path w="1786595" h="116588">
                  <a:moveTo>
                    <a:pt x="0" y="0"/>
                  </a:moveTo>
                  <a:lnTo>
                    <a:pt x="1786595" y="0"/>
                  </a:lnTo>
                  <a:lnTo>
                    <a:pt x="1786595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86595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2248976" y="3986829"/>
            <a:ext cx="6216066" cy="3860820"/>
          </a:xfrm>
          <a:custGeom>
            <a:avLst/>
            <a:gdLst/>
            <a:ahLst/>
            <a:cxnLst/>
            <a:rect l="l" t="t" r="r" b="b"/>
            <a:pathLst>
              <a:path w="6216066" h="3860820">
                <a:moveTo>
                  <a:pt x="0" y="0"/>
                </a:moveTo>
                <a:lnTo>
                  <a:pt x="6216065" y="0"/>
                </a:lnTo>
                <a:lnTo>
                  <a:pt x="6216065" y="3860819"/>
                </a:lnTo>
                <a:lnTo>
                  <a:pt x="0" y="38608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238" b="-423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주요 기능 2 - 펀치 인식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51516" y="4012285"/>
            <a:ext cx="2569271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실시간 펀치 감지 및 분석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45040" y="4419974"/>
            <a:ext cx="7432588" cy="3904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잽·크로스 감지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사용자의 펀치 동작을 실시간으로 구분</a:t>
            </a:r>
          </a:p>
          <a:p>
            <a:pPr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속도·각도 분석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손 이동 속도와 팔 각도로 펀치 폼 평가</a:t>
            </a:r>
          </a:p>
          <a:p>
            <a:pPr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펀치 카운트 표시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누적 펀치 횟수를 화면에 실시간 표시</a:t>
            </a:r>
          </a:p>
          <a:p>
            <a:pPr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간단 피드백 제공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정확도와 개선점을 짧은 문구로 안내</a:t>
            </a:r>
          </a:p>
          <a:p>
            <a:pPr marL="0" lvl="0" indent="0"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9045040" y="3986829"/>
            <a:ext cx="6783476" cy="442671"/>
            <a:chOff x="0" y="0"/>
            <a:chExt cx="1786595" cy="1165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6595" cy="116588"/>
            </a:xfrm>
            <a:custGeom>
              <a:avLst/>
              <a:gdLst/>
              <a:ahLst/>
              <a:cxnLst/>
              <a:rect l="l" t="t" r="r" b="b"/>
              <a:pathLst>
                <a:path w="1786595" h="116588">
                  <a:moveTo>
                    <a:pt x="0" y="0"/>
                  </a:moveTo>
                  <a:lnTo>
                    <a:pt x="1786595" y="0"/>
                  </a:lnTo>
                  <a:lnTo>
                    <a:pt x="1786595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86595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2248976" y="3986829"/>
            <a:ext cx="6216066" cy="3860820"/>
          </a:xfrm>
          <a:custGeom>
            <a:avLst/>
            <a:gdLst/>
            <a:ahLst/>
            <a:cxnLst/>
            <a:rect l="l" t="t" r="r" b="b"/>
            <a:pathLst>
              <a:path w="6216066" h="3860820">
                <a:moveTo>
                  <a:pt x="0" y="0"/>
                </a:moveTo>
                <a:lnTo>
                  <a:pt x="6216065" y="0"/>
                </a:lnTo>
                <a:lnTo>
                  <a:pt x="6216065" y="3860819"/>
                </a:lnTo>
                <a:lnTo>
                  <a:pt x="0" y="38608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238" b="-423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주요 기능 3 - 게임형 훈련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51516" y="4012285"/>
            <a:ext cx="2569271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게임형 훈련 요소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45040" y="4496174"/>
            <a:ext cx="7432588" cy="3888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4466" lvl="1" indent="-207233" algn="l">
              <a:lnSpc>
                <a:spcPts val="2687"/>
              </a:lnSpc>
              <a:buFont typeface="Arial"/>
              <a:buChar char="•"/>
            </a:pPr>
            <a:r>
              <a:rPr lang="en-US" sz="1919" b="1" spc="-76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 공격 예고</a:t>
            </a:r>
          </a:p>
          <a:p>
            <a:pPr marL="699396" lvl="2" indent="-233132" algn="l">
              <a:lnSpc>
                <a:spcPts val="2267"/>
              </a:lnSpc>
              <a:buFont typeface="Arial"/>
              <a:buChar char="⚬"/>
            </a:pPr>
            <a:r>
              <a:rPr lang="en-US" sz="1619" spc="-6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AI가 다음 공격을 화면에 표시하여 사용자가 미리 대비할 수 있도록 함</a:t>
            </a:r>
          </a:p>
          <a:p>
            <a:pPr algn="l">
              <a:lnSpc>
                <a:spcPts val="2267"/>
              </a:lnSpc>
            </a:pPr>
            <a:endParaRPr lang="en-US" sz="1619" spc="-64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14466" lvl="1" indent="-207233" algn="l">
              <a:lnSpc>
                <a:spcPts val="2687"/>
              </a:lnSpc>
              <a:buFont typeface="Arial"/>
              <a:buChar char="•"/>
            </a:pPr>
            <a:r>
              <a:rPr lang="en-US" sz="1919" b="1" spc="-76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블록 및 슬립 방어</a:t>
            </a:r>
          </a:p>
          <a:p>
            <a:pPr marL="699396" lvl="2" indent="-233132" algn="l">
              <a:lnSpc>
                <a:spcPts val="2267"/>
              </a:lnSpc>
              <a:buFont typeface="Arial"/>
              <a:buChar char="⚬"/>
            </a:pPr>
            <a:r>
              <a:rPr lang="en-US" sz="1619" spc="-6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공격에 맞춰 블록, 슬립 등 방어 동작을 인식</a:t>
            </a:r>
          </a:p>
          <a:p>
            <a:pPr marL="699396" lvl="2" indent="-233132" algn="l">
              <a:lnSpc>
                <a:spcPts val="2267"/>
              </a:lnSpc>
              <a:buFont typeface="Arial"/>
              <a:buChar char="⚬"/>
            </a:pPr>
            <a:r>
              <a:rPr lang="en-US" sz="1619" spc="-6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정확한 타이밍과 자세로 방어 시 높은 점수를 획득</a:t>
            </a:r>
          </a:p>
          <a:p>
            <a:pPr algn="l">
              <a:lnSpc>
                <a:spcPts val="2267"/>
              </a:lnSpc>
            </a:pPr>
            <a:endParaRPr lang="en-US" sz="1619" spc="-64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14466" lvl="1" indent="-207233" algn="l">
              <a:lnSpc>
                <a:spcPts val="2687"/>
              </a:lnSpc>
              <a:buFont typeface="Arial"/>
              <a:buChar char="•"/>
            </a:pPr>
            <a:r>
              <a:rPr lang="en-US" sz="1919" b="1" spc="-76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점수 및 콤보 시스템</a:t>
            </a:r>
          </a:p>
          <a:p>
            <a:pPr marL="699396" lvl="2" indent="-233132" algn="l">
              <a:lnSpc>
                <a:spcPts val="2267"/>
              </a:lnSpc>
              <a:buFont typeface="Arial"/>
              <a:buChar char="⚬"/>
            </a:pPr>
            <a:r>
              <a:rPr lang="en-US" sz="1619" spc="-6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연속 성공 시 콤보 점수가 누적되어 훈련 동기를 부여 </a:t>
            </a:r>
          </a:p>
          <a:p>
            <a:pPr marL="699396" lvl="2" indent="-233132" algn="l">
              <a:lnSpc>
                <a:spcPts val="2267"/>
              </a:lnSpc>
              <a:buFont typeface="Arial"/>
              <a:buChar char="⚬"/>
            </a:pPr>
            <a:r>
              <a:rPr lang="en-US" sz="1619" spc="-6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게임처럼 즐기며 실력을 향상시킬 수 있음</a:t>
            </a:r>
          </a:p>
          <a:p>
            <a:pPr algn="l">
              <a:lnSpc>
                <a:spcPts val="2267"/>
              </a:lnSpc>
            </a:pPr>
            <a:endParaRPr lang="en-US" sz="1619" spc="-64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14466" lvl="1" indent="-207233" algn="l">
              <a:lnSpc>
                <a:spcPts val="2687"/>
              </a:lnSpc>
              <a:buFont typeface="Arial"/>
              <a:buChar char="•"/>
            </a:pPr>
            <a:r>
              <a:rPr lang="en-US" sz="1919" b="1" spc="-76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카운터 타이밍</a:t>
            </a:r>
          </a:p>
          <a:p>
            <a:pPr marL="699396" lvl="2" indent="-233132" algn="l">
              <a:lnSpc>
                <a:spcPts val="2267"/>
              </a:lnSpc>
              <a:buFont typeface="Arial"/>
              <a:buChar char="⚬"/>
            </a:pPr>
            <a:r>
              <a:rPr lang="en-US" sz="1619" spc="-6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방어 성공 후 카운터 공격 타이밍을 안내하여 실전 감각을 키움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172430" y="4287570"/>
            <a:ext cx="5745219" cy="135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55"/>
              </a:lnSpc>
            </a:pPr>
            <a:r>
              <a:rPr lang="en-US" sz="7896" b="1" spc="-15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구현 방향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4033417" y="4008829"/>
            <a:ext cx="2012570" cy="442671"/>
            <a:chOff x="0" y="0"/>
            <a:chExt cx="530060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0060" cy="116588"/>
            </a:xfrm>
            <a:custGeom>
              <a:avLst/>
              <a:gdLst/>
              <a:ahLst/>
              <a:cxnLst/>
              <a:rect l="l" t="t" r="r" b="b"/>
              <a:pathLst>
                <a:path w="530060" h="116588">
                  <a:moveTo>
                    <a:pt x="0" y="0"/>
                  </a:moveTo>
                  <a:lnTo>
                    <a:pt x="530060" y="0"/>
                  </a:lnTo>
                  <a:lnTo>
                    <a:pt x="530060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30060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79175" y="4008829"/>
            <a:ext cx="1732616" cy="442671"/>
            <a:chOff x="0" y="0"/>
            <a:chExt cx="456327" cy="1165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6327" cy="116588"/>
            </a:xfrm>
            <a:custGeom>
              <a:avLst/>
              <a:gdLst/>
              <a:ahLst/>
              <a:cxnLst/>
              <a:rect l="l" t="t" r="r" b="b"/>
              <a:pathLst>
                <a:path w="456327" h="116588">
                  <a:moveTo>
                    <a:pt x="0" y="0"/>
                  </a:moveTo>
                  <a:lnTo>
                    <a:pt x="456327" y="0"/>
                  </a:lnTo>
                  <a:lnTo>
                    <a:pt x="456327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56327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4156339" y="4130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/>
          <p:nvPr/>
        </p:nvSpPr>
        <p:spPr>
          <a:xfrm>
            <a:off x="11604567" y="4130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AutoShape 19"/>
          <p:cNvSpPr/>
          <p:nvPr/>
        </p:nvSpPr>
        <p:spPr>
          <a:xfrm flipV="1">
            <a:off x="8965399" y="4008829"/>
            <a:ext cx="0" cy="376635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Freeform 20"/>
          <p:cNvSpPr/>
          <p:nvPr/>
        </p:nvSpPr>
        <p:spPr>
          <a:xfrm>
            <a:off x="2394788" y="4160442"/>
            <a:ext cx="1153280" cy="1401316"/>
          </a:xfrm>
          <a:custGeom>
            <a:avLst/>
            <a:gdLst/>
            <a:ahLst/>
            <a:cxnLst/>
            <a:rect l="l" t="t" r="r" b="b"/>
            <a:pathLst>
              <a:path w="1153280" h="1401316">
                <a:moveTo>
                  <a:pt x="0" y="0"/>
                </a:moveTo>
                <a:lnTo>
                  <a:pt x="1153280" y="0"/>
                </a:lnTo>
                <a:lnTo>
                  <a:pt x="1153280" y="1401316"/>
                </a:lnTo>
                <a:lnTo>
                  <a:pt x="0" y="14013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Freeform 21"/>
          <p:cNvSpPr/>
          <p:nvPr/>
        </p:nvSpPr>
        <p:spPr>
          <a:xfrm>
            <a:off x="9637433" y="4329792"/>
            <a:ext cx="1174471" cy="735219"/>
          </a:xfrm>
          <a:custGeom>
            <a:avLst/>
            <a:gdLst/>
            <a:ahLst/>
            <a:cxnLst/>
            <a:rect l="l" t="t" r="r" b="b"/>
            <a:pathLst>
              <a:path w="1174471" h="735219">
                <a:moveTo>
                  <a:pt x="0" y="0"/>
                </a:moveTo>
                <a:lnTo>
                  <a:pt x="1174471" y="0"/>
                </a:lnTo>
                <a:lnTo>
                  <a:pt x="1174471" y="735219"/>
                </a:lnTo>
                <a:lnTo>
                  <a:pt x="0" y="735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CORE TECHNOLOGY STACK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97292" y="5453715"/>
            <a:ext cx="2136125" cy="44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</a:pPr>
            <a:r>
              <a:rPr lang="en-US" sz="2594" spc="389" dirty="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RTMO-S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43050" y="5504608"/>
            <a:ext cx="2136125" cy="44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</a:pPr>
            <a:r>
              <a:rPr lang="en-US" sz="2594" spc="2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ONNX RUNTIME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핵심 기술 소개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39893" y="405903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포즈 추정 모델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85652" y="405903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추론 엔진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33392" y="4649264"/>
            <a:ext cx="5041520" cy="244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실시간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포즈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추정을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위한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경량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모델</a:t>
            </a:r>
            <a:endParaRPr lang="en-US" sz="1999" spc="-79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l">
              <a:lnSpc>
                <a:spcPts val="2799"/>
              </a:lnSpc>
            </a:pPr>
            <a:endParaRPr lang="en-US" sz="1999" spc="-79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속도와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정확도의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균형을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고려한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Small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버전으로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복싱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동작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분석에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최적화된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성능을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제공</a:t>
            </a:r>
            <a:endParaRPr lang="en-US" sz="1999" spc="-79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l">
              <a:lnSpc>
                <a:spcPts val="2799"/>
              </a:lnSpc>
            </a:pPr>
            <a:endParaRPr lang="en-US" sz="1999" spc="-79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1-Stage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방식으로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사람과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관절을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한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번에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추정하여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빠른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반응이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필요한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코칭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시스템에</a:t>
            </a:r>
            <a:r>
              <a:rPr lang="en-US" sz="1999" spc="-79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1999" spc="-79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적합</a:t>
            </a:r>
            <a:endParaRPr lang="en-US" sz="1999" spc="-79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479175" y="4649264"/>
            <a:ext cx="4849375" cy="244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-7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모델을 빠르게 실행하기 위한 추론 엔진</a:t>
            </a:r>
          </a:p>
          <a:p>
            <a:pPr algn="l">
              <a:lnSpc>
                <a:spcPts val="2799"/>
              </a:lnSpc>
            </a:pPr>
            <a:endParaRPr lang="en-US" sz="1999" spc="-79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-7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일반 노트북 CPU 환경에서도 구동 가능하여 고성능 GPU 없이도 실시간 분석이 가능</a:t>
            </a:r>
          </a:p>
          <a:p>
            <a:pPr algn="l">
              <a:lnSpc>
                <a:spcPts val="2799"/>
              </a:lnSpc>
            </a:pPr>
            <a:endParaRPr lang="en-US" sz="1999" spc="-79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-7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웹캠과 일반 노트북만으로 프로토타입 시연이 가능한 접근성 높은 환경을 제공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971717" y="3844757"/>
            <a:ext cx="3294823" cy="3822876"/>
            <a:chOff x="0" y="0"/>
            <a:chExt cx="867772" cy="10068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86194" y="3844757"/>
            <a:ext cx="3294823" cy="3822876"/>
            <a:chOff x="0" y="0"/>
            <a:chExt cx="867772" cy="10068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04867" y="3844757"/>
            <a:ext cx="3294823" cy="3822876"/>
            <a:chOff x="0" y="0"/>
            <a:chExt cx="867772" cy="1006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23540" y="3844757"/>
            <a:ext cx="3294823" cy="3822876"/>
            <a:chOff x="0" y="0"/>
            <a:chExt cx="867772" cy="10068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2190913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AutoShape 24"/>
          <p:cNvSpPr/>
          <p:nvPr/>
        </p:nvSpPr>
        <p:spPr>
          <a:xfrm>
            <a:off x="5805391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>
            <a:off x="9424063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13042736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Freeform 27"/>
          <p:cNvSpPr/>
          <p:nvPr/>
        </p:nvSpPr>
        <p:spPr>
          <a:xfrm>
            <a:off x="3191637" y="3834283"/>
            <a:ext cx="920846" cy="1708463"/>
          </a:xfrm>
          <a:custGeom>
            <a:avLst/>
            <a:gdLst/>
            <a:ahLst/>
            <a:cxnLst/>
            <a:rect l="l" t="t" r="r" b="b"/>
            <a:pathLst>
              <a:path w="920846" h="1708463">
                <a:moveTo>
                  <a:pt x="0" y="0"/>
                </a:moveTo>
                <a:lnTo>
                  <a:pt x="920846" y="0"/>
                </a:lnTo>
                <a:lnTo>
                  <a:pt x="920846" y="1708463"/>
                </a:lnTo>
                <a:lnTo>
                  <a:pt x="0" y="1708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>
            <a:off x="6933575" y="4238596"/>
            <a:ext cx="641741" cy="905132"/>
          </a:xfrm>
          <a:custGeom>
            <a:avLst/>
            <a:gdLst/>
            <a:ahLst/>
            <a:cxnLst/>
            <a:rect l="l" t="t" r="r" b="b"/>
            <a:pathLst>
              <a:path w="641741" h="905132">
                <a:moveTo>
                  <a:pt x="0" y="0"/>
                </a:moveTo>
                <a:lnTo>
                  <a:pt x="641741" y="0"/>
                </a:lnTo>
                <a:lnTo>
                  <a:pt x="641741" y="905132"/>
                </a:lnTo>
                <a:lnTo>
                  <a:pt x="0" y="9051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Freeform 29"/>
          <p:cNvSpPr/>
          <p:nvPr/>
        </p:nvSpPr>
        <p:spPr>
          <a:xfrm>
            <a:off x="10151371" y="4268677"/>
            <a:ext cx="1362579" cy="855667"/>
          </a:xfrm>
          <a:custGeom>
            <a:avLst/>
            <a:gdLst/>
            <a:ahLst/>
            <a:cxnLst/>
            <a:rect l="l" t="t" r="r" b="b"/>
            <a:pathLst>
              <a:path w="1362579" h="855667">
                <a:moveTo>
                  <a:pt x="0" y="0"/>
                </a:moveTo>
                <a:lnTo>
                  <a:pt x="1362579" y="0"/>
                </a:lnTo>
                <a:lnTo>
                  <a:pt x="1362579" y="855667"/>
                </a:lnTo>
                <a:lnTo>
                  <a:pt x="0" y="8556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Freeform 30"/>
          <p:cNvSpPr/>
          <p:nvPr/>
        </p:nvSpPr>
        <p:spPr>
          <a:xfrm>
            <a:off x="13981874" y="4129304"/>
            <a:ext cx="968382" cy="1016801"/>
          </a:xfrm>
          <a:custGeom>
            <a:avLst/>
            <a:gdLst/>
            <a:ahLst/>
            <a:cxnLst/>
            <a:rect l="l" t="t" r="r" b="b"/>
            <a:pathLst>
              <a:path w="968382" h="1016801">
                <a:moveTo>
                  <a:pt x="0" y="0"/>
                </a:moveTo>
                <a:lnTo>
                  <a:pt x="968382" y="0"/>
                </a:lnTo>
                <a:lnTo>
                  <a:pt x="968382" y="1016801"/>
                </a:lnTo>
                <a:lnTo>
                  <a:pt x="0" y="10168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WHY RTMO-S?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RTMO-</a:t>
            </a:r>
            <a:r>
              <a:rPr lang="en-US" sz="4097" b="1" spc="-8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S를</a:t>
            </a:r>
            <a:r>
              <a:rPr lang="en-US" sz="4097" b="1" spc="-8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4097" b="1" spc="-8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선택한</a:t>
            </a:r>
            <a:r>
              <a:rPr lang="en-US" sz="4097" b="1" spc="-8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4097" b="1" spc="-8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이유</a:t>
            </a:r>
            <a:endParaRPr lang="en-US" sz="4097" b="1" spc="-81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098441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실시간 반응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12919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복싱 동작 분석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31592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일반 환경 구동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950264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높은 접근성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98441" y="6141515"/>
            <a:ext cx="3041374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1-Stage 방식으로 사람과 관절을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한 번에 추정하여 웹캠 입력과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피드백 사이의 지연을 최소화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712919" y="6141515"/>
            <a:ext cx="3168098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손목, 팔꿈치, 어깨 움직임을 추적하고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가드 위치, 팔 각도, 펀치 궤적을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분석하여 동작을 판단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31592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고성능 GPU 없이도 CPU 기반으로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실행 가능하여 웹캠과 일반 노트북만으로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프로토타입 시연이 가능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50264" y="6141515"/>
            <a:ext cx="3041374" cy="81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빠른 반응과 가벼운 실행 환경으로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복싱 자세와 펀치 동작을 실시간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분석하기에 최적화된 모델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915106" y="4824618"/>
            <a:ext cx="2832651" cy="442671"/>
            <a:chOff x="0" y="0"/>
            <a:chExt cx="746048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074961" y="494632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2908542" y="5378702"/>
            <a:ext cx="2839215" cy="1452381"/>
            <a:chOff x="0" y="0"/>
            <a:chExt cx="747777" cy="382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60857" y="4824618"/>
            <a:ext cx="2832651" cy="442671"/>
            <a:chOff x="0" y="0"/>
            <a:chExt cx="746048" cy="1165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220713" y="494632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2" name="Group 22"/>
          <p:cNvGrpSpPr/>
          <p:nvPr/>
        </p:nvGrpSpPr>
        <p:grpSpPr>
          <a:xfrm>
            <a:off x="9204872" y="4824618"/>
            <a:ext cx="2832651" cy="442671"/>
            <a:chOff x="0" y="0"/>
            <a:chExt cx="746048" cy="1165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54293" y="5378702"/>
            <a:ext cx="2839215" cy="1452381"/>
            <a:chOff x="0" y="0"/>
            <a:chExt cx="747777" cy="382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9364727" y="494632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Group 29"/>
          <p:cNvGrpSpPr/>
          <p:nvPr/>
        </p:nvGrpSpPr>
        <p:grpSpPr>
          <a:xfrm>
            <a:off x="9198308" y="5378702"/>
            <a:ext cx="2839215" cy="1452381"/>
            <a:chOff x="0" y="0"/>
            <a:chExt cx="747777" cy="382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342323" y="5378702"/>
            <a:ext cx="2839215" cy="1452381"/>
            <a:chOff x="0" y="0"/>
            <a:chExt cx="747777" cy="382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348886" y="4824618"/>
            <a:ext cx="2832651" cy="442671"/>
            <a:chOff x="0" y="0"/>
            <a:chExt cx="746048" cy="1165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2508742" y="494632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9" name="Group 39"/>
          <p:cNvGrpSpPr/>
          <p:nvPr/>
        </p:nvGrpSpPr>
        <p:grpSpPr>
          <a:xfrm>
            <a:off x="4110113" y="4114592"/>
            <a:ext cx="436073" cy="436073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255864" y="4114592"/>
            <a:ext cx="436073" cy="436073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399879" y="4114592"/>
            <a:ext cx="436073" cy="436073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543893" y="4114592"/>
            <a:ext cx="436073" cy="436073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3321582" y="4855772"/>
            <a:ext cx="2241657" cy="32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02"/>
              </a:lnSpc>
            </a:pPr>
            <a:r>
              <a:rPr lang="en-US" sz="185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WEBCAM INPUT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161015" y="5585195"/>
            <a:ext cx="2402225" cy="63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웹캠으로 사용자의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복싱 동작을 실시간 캡처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67334" y="4855772"/>
            <a:ext cx="2241657" cy="32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02"/>
              </a:lnSpc>
            </a:pPr>
            <a:r>
              <a:rPr lang="en-US" sz="1858" b="1" spc="-37" dirty="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RTMO-S </a:t>
            </a:r>
            <a:r>
              <a:rPr lang="en-US" sz="1858" b="1" spc="-37" dirty="0" err="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포즈</a:t>
            </a:r>
            <a:r>
              <a:rPr lang="en-US" sz="1858" b="1" spc="-37" dirty="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1858" b="1" spc="-37" dirty="0" err="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추정</a:t>
            </a:r>
            <a:endParaRPr lang="en-US" sz="1858" b="1" spc="-37" dirty="0">
              <a:solidFill>
                <a:srgbClr val="FFFFFF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6306766" y="5585195"/>
            <a:ext cx="2402225" cy="63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1-Stage 방식으로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사람과 관절을 동시 추정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11348" y="4855772"/>
            <a:ext cx="2241657" cy="32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02"/>
              </a:lnSpc>
            </a:pPr>
            <a:r>
              <a:rPr lang="en-US" sz="185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COCO-17 SKELETON</a:t>
            </a:r>
          </a:p>
        </p:txBody>
      </p:sp>
      <p:sp>
        <p:nvSpPr>
          <p:cNvPr id="56" name="AutoShape 56"/>
          <p:cNvSpPr/>
          <p:nvPr/>
        </p:nvSpPr>
        <p:spPr>
          <a:xfrm flipV="1">
            <a:off x="2908542" y="4332629"/>
            <a:ext cx="122729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Box 57"/>
          <p:cNvSpPr txBox="1"/>
          <p:nvPr/>
        </p:nvSpPr>
        <p:spPr>
          <a:xfrm>
            <a:off x="12755363" y="4855772"/>
            <a:ext cx="2241657" cy="32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02"/>
              </a:lnSpc>
            </a:pPr>
            <a:r>
              <a:rPr lang="en-US" sz="185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자세/펀치 피드백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50781" y="5585195"/>
            <a:ext cx="2402225" cy="63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17개 관절 좌표로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신체 구조를 표현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594795" y="5585195"/>
            <a:ext cx="2402225" cy="63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가드 위치, 펀치 궤적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실시간 코칭 제공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172430" y="2873749"/>
            <a:ext cx="5745219" cy="3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0"/>
              </a:lnSpc>
            </a:pPr>
            <a:r>
              <a:rPr lang="en-US" sz="2250" spc="450" dirty="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RTMO-S + ONNX RUNTIME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실시간 처리 흐름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012318" y="4151971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158069" y="4151971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302084" y="4151971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446099" y="4151971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886017" y="7502390"/>
            <a:ext cx="10515965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  <a:spcBef>
                <a:spcPct val="0"/>
              </a:spcBef>
            </a:pPr>
            <a:r>
              <a:rPr lang="en-US" sz="2198" b="1" spc="-65">
                <a:solidFill>
                  <a:srgbClr val="FF31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ONNX Runtime</a:t>
            </a:r>
            <a:r>
              <a:rPr lang="en-US" sz="2198" b="1" spc="-65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을 통해 일반 노트북 CPU 환경에서도 실시간 추론이 가능합니다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4065940" y="4495038"/>
            <a:ext cx="10156120" cy="135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55"/>
              </a:lnSpc>
            </a:pPr>
            <a:r>
              <a:rPr lang="en-US" sz="7896" b="1" spc="-15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서비스 구성 및 기대 효과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971717" y="3844757"/>
            <a:ext cx="3294823" cy="3822876"/>
            <a:chOff x="0" y="0"/>
            <a:chExt cx="867772" cy="10068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86194" y="3844757"/>
            <a:ext cx="3294823" cy="3822876"/>
            <a:chOff x="0" y="0"/>
            <a:chExt cx="867772" cy="10068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04867" y="3844757"/>
            <a:ext cx="3294823" cy="3822876"/>
            <a:chOff x="0" y="0"/>
            <a:chExt cx="867772" cy="1006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23540" y="3844757"/>
            <a:ext cx="3294823" cy="3822876"/>
            <a:chOff x="0" y="0"/>
            <a:chExt cx="867772" cy="10068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2190913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AutoShape 24"/>
          <p:cNvSpPr/>
          <p:nvPr/>
        </p:nvSpPr>
        <p:spPr>
          <a:xfrm>
            <a:off x="5805391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>
            <a:off x="9424063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13042736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Freeform 27"/>
          <p:cNvSpPr/>
          <p:nvPr/>
        </p:nvSpPr>
        <p:spPr>
          <a:xfrm>
            <a:off x="2887232" y="3673359"/>
            <a:ext cx="1430554" cy="2192420"/>
          </a:xfrm>
          <a:custGeom>
            <a:avLst/>
            <a:gdLst/>
            <a:ahLst/>
            <a:cxnLst/>
            <a:rect l="l" t="t" r="r" b="b"/>
            <a:pathLst>
              <a:path w="1430554" h="2192420">
                <a:moveTo>
                  <a:pt x="0" y="0"/>
                </a:moveTo>
                <a:lnTo>
                  <a:pt x="1430554" y="0"/>
                </a:lnTo>
                <a:lnTo>
                  <a:pt x="1430554" y="2192420"/>
                </a:lnTo>
                <a:lnTo>
                  <a:pt x="0" y="2192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>
            <a:off x="6822309" y="4264164"/>
            <a:ext cx="826754" cy="826754"/>
          </a:xfrm>
          <a:custGeom>
            <a:avLst/>
            <a:gdLst/>
            <a:ahLst/>
            <a:cxnLst/>
            <a:rect l="l" t="t" r="r" b="b"/>
            <a:pathLst>
              <a:path w="826754" h="826754">
                <a:moveTo>
                  <a:pt x="0" y="0"/>
                </a:moveTo>
                <a:lnTo>
                  <a:pt x="826754" y="0"/>
                </a:lnTo>
                <a:lnTo>
                  <a:pt x="826754" y="826755"/>
                </a:lnTo>
                <a:lnTo>
                  <a:pt x="0" y="826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Freeform 29"/>
          <p:cNvSpPr/>
          <p:nvPr/>
        </p:nvSpPr>
        <p:spPr>
          <a:xfrm>
            <a:off x="10177464" y="4230702"/>
            <a:ext cx="1308982" cy="1023526"/>
          </a:xfrm>
          <a:custGeom>
            <a:avLst/>
            <a:gdLst/>
            <a:ahLst/>
            <a:cxnLst/>
            <a:rect l="l" t="t" r="r" b="b"/>
            <a:pathLst>
              <a:path w="1308982" h="1023526">
                <a:moveTo>
                  <a:pt x="0" y="0"/>
                </a:moveTo>
                <a:lnTo>
                  <a:pt x="1308982" y="0"/>
                </a:lnTo>
                <a:lnTo>
                  <a:pt x="1308982" y="1023526"/>
                </a:lnTo>
                <a:lnTo>
                  <a:pt x="0" y="10235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Freeform 30"/>
          <p:cNvSpPr/>
          <p:nvPr/>
        </p:nvSpPr>
        <p:spPr>
          <a:xfrm>
            <a:off x="13896671" y="4222480"/>
            <a:ext cx="1154686" cy="1111410"/>
          </a:xfrm>
          <a:custGeom>
            <a:avLst/>
            <a:gdLst/>
            <a:ahLst/>
            <a:cxnLst/>
            <a:rect l="l" t="t" r="r" b="b"/>
            <a:pathLst>
              <a:path w="1154686" h="1111410">
                <a:moveTo>
                  <a:pt x="0" y="0"/>
                </a:moveTo>
                <a:lnTo>
                  <a:pt x="1154686" y="0"/>
                </a:lnTo>
                <a:lnTo>
                  <a:pt x="1154686" y="1111410"/>
                </a:lnTo>
                <a:lnTo>
                  <a:pt x="0" y="1111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SCREEN LAYOUT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화면 구성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98441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중앙 영역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12919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측면 패널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31592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상단 표시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950264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하단 영역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98441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사용자 스켈레톤을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실시간으로 표시하여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자세를 직관적으로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확인할 수 있습니다.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712919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자세 점수 패널을 통해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가드, 스탠스, 정렬 상태를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수치와 등급으로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한눈에 파악합니다.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31592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펀치 카운트를 표시하여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잽, 크로스 등 각 펀치의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횟수를 실시간으로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추적합니다.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50264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피드백 메시지 영역으로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AI 코치의 교정 안내와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격려 문구를 즉각적으로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전달합니다.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4033417" y="4008829"/>
            <a:ext cx="1760003" cy="442671"/>
            <a:chOff x="0" y="0"/>
            <a:chExt cx="463540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3540" cy="116588"/>
            </a:xfrm>
            <a:custGeom>
              <a:avLst/>
              <a:gdLst/>
              <a:ahLst/>
              <a:cxnLst/>
              <a:rect l="l" t="t" r="r" b="b"/>
              <a:pathLst>
                <a:path w="463540" h="116588">
                  <a:moveTo>
                    <a:pt x="0" y="0"/>
                  </a:moveTo>
                  <a:lnTo>
                    <a:pt x="463540" y="0"/>
                  </a:lnTo>
                  <a:lnTo>
                    <a:pt x="463540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63540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79175" y="4008829"/>
            <a:ext cx="1732616" cy="442671"/>
            <a:chOff x="0" y="0"/>
            <a:chExt cx="456327" cy="1165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6327" cy="116588"/>
            </a:xfrm>
            <a:custGeom>
              <a:avLst/>
              <a:gdLst/>
              <a:ahLst/>
              <a:cxnLst/>
              <a:rect l="l" t="t" r="r" b="b"/>
              <a:pathLst>
                <a:path w="456327" h="116588">
                  <a:moveTo>
                    <a:pt x="0" y="0"/>
                  </a:moveTo>
                  <a:lnTo>
                    <a:pt x="456327" y="0"/>
                  </a:lnTo>
                  <a:lnTo>
                    <a:pt x="456327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56327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4156339" y="4130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/>
          <p:nvPr/>
        </p:nvSpPr>
        <p:spPr>
          <a:xfrm>
            <a:off x="11604567" y="4130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AutoShape 19"/>
          <p:cNvSpPr/>
          <p:nvPr/>
        </p:nvSpPr>
        <p:spPr>
          <a:xfrm flipV="1">
            <a:off x="8965399" y="4008829"/>
            <a:ext cx="0" cy="376635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Freeform 20"/>
          <p:cNvSpPr/>
          <p:nvPr/>
        </p:nvSpPr>
        <p:spPr>
          <a:xfrm>
            <a:off x="2367563" y="4183283"/>
            <a:ext cx="1229217" cy="1093487"/>
          </a:xfrm>
          <a:custGeom>
            <a:avLst/>
            <a:gdLst/>
            <a:ahLst/>
            <a:cxnLst/>
            <a:rect l="l" t="t" r="r" b="b"/>
            <a:pathLst>
              <a:path w="1229217" h="1093487">
                <a:moveTo>
                  <a:pt x="0" y="0"/>
                </a:moveTo>
                <a:lnTo>
                  <a:pt x="1229217" y="0"/>
                </a:lnTo>
                <a:lnTo>
                  <a:pt x="1229217" y="1093487"/>
                </a:lnTo>
                <a:lnTo>
                  <a:pt x="0" y="10934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Freeform 21"/>
          <p:cNvSpPr/>
          <p:nvPr/>
        </p:nvSpPr>
        <p:spPr>
          <a:xfrm>
            <a:off x="9815807" y="4132941"/>
            <a:ext cx="892600" cy="1143829"/>
          </a:xfrm>
          <a:custGeom>
            <a:avLst/>
            <a:gdLst/>
            <a:ahLst/>
            <a:cxnLst/>
            <a:rect l="l" t="t" r="r" b="b"/>
            <a:pathLst>
              <a:path w="892600" h="1143829">
                <a:moveTo>
                  <a:pt x="0" y="0"/>
                </a:moveTo>
                <a:lnTo>
                  <a:pt x="892601" y="0"/>
                </a:lnTo>
                <a:lnTo>
                  <a:pt x="892601" y="1143829"/>
                </a:lnTo>
                <a:lnTo>
                  <a:pt x="0" y="11438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SUCCESS CASE STUDY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97292" y="5453715"/>
            <a:ext cx="2136125" cy="44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</a:pPr>
            <a:r>
              <a:rPr lang="en-US" sz="2594" spc="38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기존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94045" y="5419415"/>
            <a:ext cx="2136125" cy="44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</a:pPr>
            <a:r>
              <a:rPr lang="en-US" sz="2594" spc="2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제안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차별성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39893" y="405903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 방식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85652" y="405903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 복싱 코치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65422" y="4676281"/>
            <a:ext cx="5226572" cy="3904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고가 장비 의존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웨어러블 센서·모션 캡처 등 별도 장비 필요</a:t>
            </a:r>
          </a:p>
          <a:p>
            <a:pPr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사용 환경의 복잡성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설치와 세팅 과정이 복잡해 접근성이 낮음</a:t>
            </a:r>
          </a:p>
          <a:p>
            <a:pPr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피드백 기능의 분리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자세 분석, 펀치 인식, 훈련 동기 부여가 따로 작동</a:t>
            </a:r>
          </a:p>
          <a:p>
            <a:pPr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초보자 자율 훈련의 한계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혼자서는 정확한 교정과 지속적인 연습이 어려움</a:t>
            </a:r>
          </a:p>
          <a:p>
            <a:pPr marL="0" lvl="0" indent="0"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039938" y="4701451"/>
            <a:ext cx="5437689" cy="3904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웹캠만으로 사용 가능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별도 센서나 모션 캡처 장비 없이 구현</a:t>
            </a:r>
          </a:p>
          <a:p>
            <a:pPr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통합형 코칭 시스템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자세 분석, 펀치 인식, 게임형 피드백을 하나로 제공</a:t>
            </a:r>
          </a:p>
          <a:p>
            <a:pPr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초보자 친화 UI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점수와 짧은 피드백으로 쉽게 이해 가능</a:t>
            </a:r>
          </a:p>
          <a:p>
            <a:pPr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실시간 자세 교정</a:t>
            </a:r>
          </a:p>
          <a:p>
            <a:pPr marL="777240" lvl="2" indent="-259080" algn="l">
              <a:lnSpc>
                <a:spcPts val="2520"/>
              </a:lnSpc>
              <a:buFont typeface="Arial"/>
              <a:buChar char="⚬"/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동작 직후 즉각적인 피드백 제공</a:t>
            </a:r>
          </a:p>
          <a:p>
            <a:pPr marL="0" lvl="0" indent="0" algn="l">
              <a:lnSpc>
                <a:spcPts val="2520"/>
              </a:lnSpc>
            </a:pPr>
            <a:endParaRPr lang="en-US" sz="18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5601882" y="1693160"/>
            <a:ext cx="1314982" cy="98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11</a:t>
            </a:r>
          </a:p>
          <a:p>
            <a:pPr marL="0" lvl="0" indent="0" algn="ctr">
              <a:lnSpc>
                <a:spcPts val="3917"/>
              </a:lnSpc>
            </a:pPr>
            <a:endParaRPr lang="en-US" sz="2798" b="1" spc="559">
              <a:solidFill>
                <a:srgbClr val="00000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971717" y="3844757"/>
            <a:ext cx="3294823" cy="3822876"/>
            <a:chOff x="0" y="0"/>
            <a:chExt cx="867772" cy="10068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86194" y="3844757"/>
            <a:ext cx="3294823" cy="3822876"/>
            <a:chOff x="0" y="0"/>
            <a:chExt cx="867772" cy="10068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04867" y="3844757"/>
            <a:ext cx="3294823" cy="3822876"/>
            <a:chOff x="0" y="0"/>
            <a:chExt cx="867772" cy="1006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23540" y="3844757"/>
            <a:ext cx="3294823" cy="3822876"/>
            <a:chOff x="0" y="0"/>
            <a:chExt cx="867772" cy="10068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2190913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AutoShape 24"/>
          <p:cNvSpPr/>
          <p:nvPr/>
        </p:nvSpPr>
        <p:spPr>
          <a:xfrm>
            <a:off x="5805391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>
            <a:off x="9424063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13042736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Freeform 27"/>
          <p:cNvSpPr/>
          <p:nvPr/>
        </p:nvSpPr>
        <p:spPr>
          <a:xfrm>
            <a:off x="3129969" y="4015757"/>
            <a:ext cx="979831" cy="1205315"/>
          </a:xfrm>
          <a:custGeom>
            <a:avLst/>
            <a:gdLst/>
            <a:ahLst/>
            <a:cxnLst/>
            <a:rect l="l" t="t" r="r" b="b"/>
            <a:pathLst>
              <a:path w="979831" h="1205315">
                <a:moveTo>
                  <a:pt x="0" y="0"/>
                </a:moveTo>
                <a:lnTo>
                  <a:pt x="979830" y="0"/>
                </a:lnTo>
                <a:lnTo>
                  <a:pt x="979830" y="1205315"/>
                </a:lnTo>
                <a:lnTo>
                  <a:pt x="0" y="1205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>
            <a:off x="6837613" y="4314281"/>
            <a:ext cx="812057" cy="904121"/>
          </a:xfrm>
          <a:custGeom>
            <a:avLst/>
            <a:gdLst/>
            <a:ahLst/>
            <a:cxnLst/>
            <a:rect l="l" t="t" r="r" b="b"/>
            <a:pathLst>
              <a:path w="812057" h="904121">
                <a:moveTo>
                  <a:pt x="0" y="0"/>
                </a:moveTo>
                <a:lnTo>
                  <a:pt x="812057" y="0"/>
                </a:lnTo>
                <a:lnTo>
                  <a:pt x="812057" y="904121"/>
                </a:lnTo>
                <a:lnTo>
                  <a:pt x="0" y="9041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Freeform 29"/>
          <p:cNvSpPr/>
          <p:nvPr/>
        </p:nvSpPr>
        <p:spPr>
          <a:xfrm>
            <a:off x="10193912" y="4056303"/>
            <a:ext cx="1146098" cy="1068309"/>
          </a:xfrm>
          <a:custGeom>
            <a:avLst/>
            <a:gdLst/>
            <a:ahLst/>
            <a:cxnLst/>
            <a:rect l="l" t="t" r="r" b="b"/>
            <a:pathLst>
              <a:path w="1146098" h="1068309">
                <a:moveTo>
                  <a:pt x="0" y="0"/>
                </a:moveTo>
                <a:lnTo>
                  <a:pt x="1146098" y="0"/>
                </a:lnTo>
                <a:lnTo>
                  <a:pt x="1146098" y="1068309"/>
                </a:lnTo>
                <a:lnTo>
                  <a:pt x="0" y="1068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Freeform 30"/>
          <p:cNvSpPr/>
          <p:nvPr/>
        </p:nvSpPr>
        <p:spPr>
          <a:xfrm>
            <a:off x="13839239" y="4154600"/>
            <a:ext cx="1242778" cy="912131"/>
          </a:xfrm>
          <a:custGeom>
            <a:avLst/>
            <a:gdLst/>
            <a:ahLst/>
            <a:cxnLst/>
            <a:rect l="l" t="t" r="r" b="b"/>
            <a:pathLst>
              <a:path w="1242778" h="912131">
                <a:moveTo>
                  <a:pt x="0" y="0"/>
                </a:moveTo>
                <a:lnTo>
                  <a:pt x="1242778" y="0"/>
                </a:lnTo>
                <a:lnTo>
                  <a:pt x="1242778" y="912131"/>
                </a:lnTo>
                <a:lnTo>
                  <a:pt x="0" y="9121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EXPECTED BENEFITS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기대 효과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98441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자세 교정 보조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12919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즉각 피드백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31592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훈련 품질 향상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950264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다양한 활용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98441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AI가 실시간으로 자세를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분석하여 올바른 폼을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유지할 수 있도록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도와줍니다.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712919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동작 직후 바로 피드백을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받아 잘못된 습관이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굳어지기 전에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교정할 수 있습니다.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31592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체계적인 분석과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게임형 요소로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훈련 효율성과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집중도를 높입니다.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50264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체육 수업, 개인 운동,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홈트레이닝 등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다양한 환경에서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활용 가능합니다.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3525035" y="2758444"/>
            <a:ext cx="11237930" cy="5966019"/>
          </a:xfrm>
          <a:custGeom>
            <a:avLst/>
            <a:gdLst/>
            <a:ahLst/>
            <a:cxnLst/>
            <a:rect l="l" t="t" r="r" b="b"/>
            <a:pathLst>
              <a:path w="11237930" h="5966019">
                <a:moveTo>
                  <a:pt x="0" y="0"/>
                </a:moveTo>
                <a:lnTo>
                  <a:pt x="11237930" y="0"/>
                </a:lnTo>
                <a:lnTo>
                  <a:pt x="11237930" y="5966019"/>
                </a:lnTo>
                <a:lnTo>
                  <a:pt x="0" y="5966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983115" y="2078923"/>
            <a:ext cx="13618768" cy="67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6"/>
              </a:lnSpc>
            </a:pPr>
            <a:r>
              <a:rPr lang="en-US" sz="3997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향후 계획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01882" y="1693160"/>
            <a:ext cx="1314982" cy="4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2798" b="1" spc="55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2334616" y="4642855"/>
            <a:ext cx="13618768" cy="88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6"/>
              </a:lnSpc>
            </a:pPr>
            <a:r>
              <a:rPr lang="en-US" sz="5197" b="1" spc="-103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799</Words>
  <Application>Microsoft Office PowerPoint</Application>
  <PresentationFormat>사용자 지정</PresentationFormat>
  <Paragraphs>238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Calibri</vt:lpstr>
      <vt:lpstr>Source Han Sans KR Medium</vt:lpstr>
      <vt:lpstr>Barlow Condensed</vt:lpstr>
      <vt:lpstr>Arial</vt:lpstr>
      <vt:lpstr>Barlow Condensed Bold</vt:lpstr>
      <vt:lpstr>Normung Bold</vt:lpstr>
      <vt:lpstr>Source Han Sans KR Bold</vt:lpstr>
      <vt:lpstr>Source Han Sans KR</vt:lpstr>
      <vt:lpstr>Barlow Condensed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Boxing Coach System</dc:title>
  <cp:lastModifiedBy>박상현</cp:lastModifiedBy>
  <cp:revision>5</cp:revision>
  <dcterms:created xsi:type="dcterms:W3CDTF">2006-08-16T00:00:00Z</dcterms:created>
  <dcterms:modified xsi:type="dcterms:W3CDTF">2026-04-29T06:34:46Z</dcterms:modified>
  <dc:identifier>DAHIMJyo8i4</dc:identifier>
</cp:coreProperties>
</file>